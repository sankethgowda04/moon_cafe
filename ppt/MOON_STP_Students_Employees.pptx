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FC3ED32B89AA_01.pn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E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463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5E6"/>
                </a:solidFill>
              </a:rPr>
              <a:t>MOON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68096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B75C"/>
                </a:solidFill>
              </a:rPr>
              <a:t>YOUTH-FOCUSED COFFEE SHOP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8096" y="2907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SEGMENTATION  •  TARGETING  •  POSITIONING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01  SEGMENTATION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Six youth customer segments, including students and employees.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429000" cy="1600200"/>
          </a:xfrm>
          <a:prstGeom prst="roundRect">
            <a:avLst/>
          </a:prstGeom>
          <a:solidFill>
            <a:srgbClr val="182947"/>
          </a:solidFill>
          <a:ln w="19050">
            <a:solidFill>
              <a:srgbClr val="F3B7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856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" y="22037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College Students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18–24 • affordable • study • social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62272" y="1691640"/>
            <a:ext cx="3429000" cy="1600200"/>
          </a:xfrm>
          <a:prstGeom prst="roundRect">
            <a:avLst/>
          </a:prstGeom>
          <a:solidFill>
            <a:srgbClr val="182947"/>
          </a:solidFill>
          <a:ln w="19050">
            <a:solidFill>
              <a:srgbClr val="F3B7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856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63440" y="22037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Young Employees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66344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22–30 • work breaks • meetings • convenience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84464" y="1691640"/>
            <a:ext cx="3429000" cy="1600200"/>
          </a:xfrm>
          <a:prstGeom prst="roundRect">
            <a:avLst/>
          </a:prstGeom>
          <a:solidFill>
            <a:srgbClr val="111F3D"/>
          </a:solidFill>
          <a:ln w="12700">
            <a:solidFill>
              <a:srgbClr val="2A3C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1856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85632" y="22037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Freelancers &amp; Remote Workers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485632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Wi-Fi • charging • longer stays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3776472"/>
            <a:ext cx="3429000" cy="1600200"/>
          </a:xfrm>
          <a:prstGeom prst="roundRect">
            <a:avLst/>
          </a:prstGeom>
          <a:solidFill>
            <a:srgbClr val="111F3D"/>
          </a:solidFill>
          <a:ln w="12700">
            <a:solidFill>
              <a:srgbClr val="2A3C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3941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41248" y="42885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Social Hangout Customers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1248" y="4828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friends • groups • ambience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462272" y="3776472"/>
            <a:ext cx="3429000" cy="1600200"/>
          </a:xfrm>
          <a:prstGeom prst="roundRect">
            <a:avLst/>
          </a:prstGeom>
          <a:solidFill>
            <a:srgbClr val="111F3D"/>
          </a:solidFill>
          <a:ln w="12700">
            <a:solidFill>
              <a:srgbClr val="2A3C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3941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663440" y="42885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Trend &amp; Experience Seekers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4663440" y="4828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new drinks • visuals • sharing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84464" y="3776472"/>
            <a:ext cx="3429000" cy="1600200"/>
          </a:xfrm>
          <a:prstGeom prst="roundRect">
            <a:avLst/>
          </a:prstGeom>
          <a:solidFill>
            <a:srgbClr val="111F3D"/>
          </a:solidFill>
          <a:ln w="12700">
            <a:solidFill>
              <a:srgbClr val="2A3C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85632" y="3941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485632" y="42885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Coffee Enthusiasts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8485632" y="4828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taste • quality • repeat visits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SEGMENTATION BASES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MOON uses all four major bases, exceeding the requirement of at least two.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58368" y="1691640"/>
            <a:ext cx="5166360" cy="1828800"/>
          </a:xfrm>
          <a:prstGeom prst="roundRect">
            <a:avLst/>
          </a:prstGeom>
          <a:solidFill>
            <a:srgbClr val="111F3D"/>
          </a:solidFill>
          <a:ln w="15240">
            <a:solidFill>
              <a:srgbClr val="F3B7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B75C"/>
                </a:solidFill>
              </a:rPr>
              <a:t>DEMOGRAPHIC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32688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Age 18–30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Students, employees &amp; young professionals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Budget to moderate spending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81928" y="1691640"/>
            <a:ext cx="5166360" cy="1828800"/>
          </a:xfrm>
          <a:prstGeom prst="roundRect">
            <a:avLst/>
          </a:prstGeom>
          <a:solidFill>
            <a:srgbClr val="111F3D"/>
          </a:solidFill>
          <a:ln w="15240">
            <a:solidFill>
              <a:srgbClr val="3146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56248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B75C"/>
                </a:solidFill>
              </a:rPr>
              <a:t>GEOGRAPHIC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56248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Urban areas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Near colleges, offices &amp; transit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High youth footfall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" y="3904488"/>
            <a:ext cx="5166360" cy="1828800"/>
          </a:xfrm>
          <a:prstGeom prst="roundRect">
            <a:avLst/>
          </a:prstGeom>
          <a:solidFill>
            <a:srgbClr val="111F3D"/>
          </a:solidFill>
          <a:ln w="15240">
            <a:solidFill>
              <a:srgbClr val="F3B7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B75C"/>
                </a:solidFill>
              </a:rPr>
              <a:t>PSYCHOGRAPHIC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32688" y="45902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Social &amp; experience-seeking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Productive / modern lifestyle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Values ambience &amp; comfort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81928" y="3904488"/>
            <a:ext cx="5166360" cy="1828800"/>
          </a:xfrm>
          <a:prstGeom prst="roundRect">
            <a:avLst/>
          </a:prstGeom>
          <a:solidFill>
            <a:srgbClr val="111F3D"/>
          </a:solidFill>
          <a:ln w="15240">
            <a:solidFill>
              <a:srgbClr val="3146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56248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B75C"/>
                </a:solidFill>
              </a:rPr>
              <a:t>BEHAVIOURAL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56248" y="45902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Coffee &amp; snack consumption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Study, work, breaks &amp; meet-ups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Deals &amp; repeat visits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02  PRIMARY TARGET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One primary target, while employees remain an important segment.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B75C"/>
                </a:solidFill>
              </a:rPr>
              <a:t>COLLEGE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3B75C"/>
                </a:solidFill>
              </a:rPr>
              <a:t>STUDENTS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Age 18–24  •  Urban  •  Social  •  Value-conscious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C3D6"/>
                </a:solidFill>
              </a:rPr>
              <a:t>Secondary opportunity: Young Employees (22–30)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60920" y="1554480"/>
            <a:ext cx="3108960" cy="3108960"/>
          </a:xfrm>
          <a:prstGeom prst="ellipse">
            <a:avLst/>
          </a:prstGeom>
          <a:solidFill>
            <a:srgbClr val="111F3D"/>
          </a:solidFill>
          <a:ln w="25400">
            <a:solidFill>
              <a:srgbClr val="F3B7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5E6"/>
                </a:solidFill>
              </a:rPr>
              <a:t>18–24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726680" y="31638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B75C"/>
                </a:solidFill>
              </a:rPr>
              <a:t>PRIMARY TARGET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WHY COLLEGE STUDENTS?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Defence using the five required criteria.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13232" y="1572768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719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SIZE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880360" y="160934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Large student audience concentrated around colleges and universities.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" y="2505456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GROWTH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880360" y="2542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Study, social and café occasions can encourage repeat visits.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3232" y="3438144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5844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ACCESSIBILITY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880360" y="34747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Reachable near campuses, student communities, social media and offers.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13232" y="4370832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5171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COMPETITION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880360" y="44074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Crowded café market; MOON competes through student value + space + youth relevance.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13232" y="5303520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4498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FIT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880360" y="53400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Pricing, Wi-Fi, charging, seating, ambience and combos directly suit student needs.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03  POSITIONING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Target → Frame → Benefit → Reason to Believe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152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75C"/>
                </a:solidFill>
              </a:rPr>
              <a:t>TARGET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0" y="1444752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5E6"/>
                </a:solidFill>
              </a:rPr>
              <a:t>Urban college students aged 18–24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75C"/>
                </a:solidFill>
              </a:rPr>
              <a:t>FRAME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2404872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5E6"/>
                </a:solidFill>
              </a:rPr>
              <a:t>A youth-focused neighbourhood coffee shop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75C"/>
                </a:solidFill>
              </a:rPr>
              <a:t>BENEFIT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0" y="3364992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5E6"/>
                </a:solidFill>
              </a:rPr>
              <a:t>Affordable coffee + a comfortable place to meet, study and relax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4361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75C"/>
                </a:solidFill>
              </a:rPr>
              <a:t>REASON TO BELIEVE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4325112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5E6"/>
                </a:solidFill>
              </a:rPr>
              <a:t>Student-friendly combos, Wi-Fi, charging, comfortable seating and modern atmosphere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49808" y="5257800"/>
            <a:ext cx="10744200" cy="960120"/>
          </a:xfrm>
          <a:prstGeom prst="roundRect">
            <a:avLst/>
          </a:prstGeom>
          <a:solidFill>
            <a:srgbClr val="182947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5449824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5E6"/>
                </a:solidFill>
              </a:rPr>
              <a:t>For urban college students aged 18–24, our brand MOON is a youth-focused neighbourhood coffee shop that provides affordable coffee and a comfortable place to meet, study and relax because it offers student-friendly combos, Wi-Fi, charging, comfortable seating and a modern atmosphere.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 Cafe STP</dc:title>
  <dc:subject>PptxGenJS Presentation</dc:subject>
  <dc:creator>SANKETH R</dc:creator>
  <cp:lastModifiedBy>SANKETH R</cp:lastModifiedBy>
  <cp:revision>1</cp:revision>
  <dcterms:created xsi:type="dcterms:W3CDTF">2026-10-07T13:42:17Z</dcterms:created>
  <dcterms:modified xsi:type="dcterms:W3CDTF">2026-10-07T13:42:17Z</dcterms:modified>
</cp:coreProperties>
</file>